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2E8F0"/>
                </a:solidFill>
                <a:latin typeface="Arial"/>
              </a:rPr>
              <a:t>Top Industries by Posting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D4F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7B-4E08-B655-304BB09E4D6D}"/>
              </c:ext>
            </c:extLst>
          </c:dPt>
          <c:dPt>
            <c:idx val="1"/>
            <c:invertIfNegative val="0"/>
            <c:bubble3D val="0"/>
            <c:spPr>
              <a:solidFill>
                <a:srgbClr val="0F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7B-4E08-B655-304BB09E4D6D}"/>
              </c:ext>
            </c:extLst>
          </c:dPt>
          <c:dPt>
            <c:idx val="2"/>
            <c:invertIfNegative val="0"/>
            <c:bubble3D val="0"/>
            <c:spPr>
              <a:solidFill>
                <a:srgbClr val="1169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7B-4E08-B655-304BB09E4D6D}"/>
              </c:ext>
            </c:extLst>
          </c:dPt>
          <c:dPt>
            <c:idx val="3"/>
            <c:invertIfNegative val="0"/>
            <c:bubble3D val="0"/>
            <c:spPr>
              <a:solidFill>
                <a:srgbClr val="1A74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7B-4E08-B655-304BB09E4D6D}"/>
              </c:ext>
            </c:extLst>
          </c:dPt>
          <c:dPt>
            <c:idx val="4"/>
            <c:invertIfNegative val="0"/>
            <c:bubble3D val="0"/>
            <c:spPr>
              <a:solidFill>
                <a:srgbClr val="228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7B-4E08-B655-304BB09E4D6D}"/>
              </c:ext>
            </c:extLst>
          </c:dPt>
          <c:dPt>
            <c:idx val="5"/>
            <c:invertIfNegative val="0"/>
            <c:bubble3D val="0"/>
            <c:spPr>
              <a:solidFill>
                <a:srgbClr val="2E8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B7B-4E08-B655-304BB09E4D6D}"/>
              </c:ext>
            </c:extLst>
          </c:dPt>
          <c:dPt>
            <c:idx val="6"/>
            <c:invertIfNegative val="0"/>
            <c:bubble3D val="0"/>
            <c:spPr>
              <a:solidFill>
                <a:srgbClr val="3D9A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B7B-4E08-B655-304BB09E4D6D}"/>
              </c:ext>
            </c:extLst>
          </c:dPt>
          <c:dPt>
            <c:idx val="7"/>
            <c:invertIfNegative val="0"/>
            <c:bubble3D val="0"/>
            <c:spPr>
              <a:solidFill>
                <a:srgbClr val="4DA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B7B-4E08-B655-304BB09E4D6D}"/>
              </c:ext>
            </c:extLst>
          </c:dPt>
          <c:cat>
            <c:strRef>
              <c:f>Sheet1!$A$2:$A$9</c:f>
              <c:strCache>
                <c:ptCount val="8"/>
                <c:pt idx="0">
                  <c:v>Admin / Secretarial</c:v>
                </c:pt>
                <c:pt idx="1">
                  <c:v>Information Technology</c:v>
                </c:pt>
                <c:pt idx="2">
                  <c:v>Engineering</c:v>
                </c:pt>
                <c:pt idx="3">
                  <c:v>Accounting / Taxation</c:v>
                </c:pt>
                <c:pt idx="4">
                  <c:v>Building &amp; Construction</c:v>
                </c:pt>
                <c:pt idx="5">
                  <c:v>Customer Service</c:v>
                </c:pt>
                <c:pt idx="6">
                  <c:v>F&amp;B</c:v>
                </c:pt>
                <c:pt idx="7">
                  <c:v>Banking &amp; Finance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102719</c:v>
                </c:pt>
                <c:pt idx="1">
                  <c:v>100142</c:v>
                </c:pt>
                <c:pt idx="2">
                  <c:v>99675</c:v>
                </c:pt>
                <c:pt idx="3">
                  <c:v>78648</c:v>
                </c:pt>
                <c:pt idx="4">
                  <c:v>74014</c:v>
                </c:pt>
                <c:pt idx="5">
                  <c:v>64865</c:v>
                </c:pt>
                <c:pt idx="6">
                  <c:v>59678</c:v>
                </c:pt>
                <c:pt idx="7">
                  <c:v>46635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B7B-4E08-B655-304BB09E4D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2E8F0"/>
                </a:solidFill>
                <a:latin typeface="Arial"/>
              </a:rPr>
              <a:t>Salary Band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Salary Bands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20-4CA1-817E-641D9FF80554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20-4CA1-817E-641D9FF80554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20-4CA1-817E-641D9FF80554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20-4CA1-817E-641D9FF8055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20-4CA1-817E-641D9FF8055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20-4CA1-817E-641D9FF8055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820-4CA1-817E-641D9FF8055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820-4CA1-817E-641D9FF8055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Low &lt;S$3K</c:v>
                </c:pt>
                <c:pt idx="1">
                  <c:v>Mid S$3K-6K</c:v>
                </c:pt>
                <c:pt idx="2">
                  <c:v>High S$6K-10K</c:v>
                </c:pt>
                <c:pt idx="3">
                  <c:v>Premium &gt;S$10K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270577</c:v>
                </c:pt>
                <c:pt idx="1">
                  <c:v>564010</c:v>
                </c:pt>
                <c:pt idx="2">
                  <c:v>155914</c:v>
                </c:pt>
                <c:pt idx="3">
                  <c:v>54096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20-4CA1-817E-641D9FF805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Average Monthly Salary by Industry (S$)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(S$)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C7-4465-82D1-FAAC0C0528D8}"/>
              </c:ext>
            </c:extLst>
          </c:dPt>
          <c:dPt>
            <c:idx val="1"/>
            <c:invertIfNegative val="0"/>
            <c:bubble3D val="0"/>
            <c:spPr>
              <a:solidFill>
                <a:srgbClr val="D44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C7-4465-82D1-FAAC0C0528D8}"/>
              </c:ext>
            </c:extLst>
          </c:dPt>
          <c:dPt>
            <c:idx val="2"/>
            <c:invertIfNegative val="0"/>
            <c:bubble3D val="0"/>
            <c:spPr>
              <a:solidFill>
                <a:srgbClr val="E85E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C7-4465-82D1-FAAC0C0528D8}"/>
              </c:ext>
            </c:extLst>
          </c:dPt>
          <c:dPt>
            <c:idx val="3"/>
            <c:invertIfNegative val="0"/>
            <c:bubble3D val="0"/>
            <c:spPr>
              <a:solidFill>
                <a:srgbClr val="EF7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6C7-4465-82D1-FAAC0C0528D8}"/>
              </c:ext>
            </c:extLst>
          </c:dPt>
          <c:dPt>
            <c:idx val="4"/>
            <c:invertIfNegative val="0"/>
            <c:bubble3D val="0"/>
            <c:spPr>
              <a:solidFill>
                <a:srgbClr val="F58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6C7-4465-82D1-FAAC0C0528D8}"/>
              </c:ext>
            </c:extLst>
          </c:dPt>
          <c:dPt>
            <c:idx val="5"/>
            <c:invertIfNegative val="0"/>
            <c:bubble3D val="0"/>
            <c:spPr>
              <a:solidFill>
                <a:srgbClr val="F9A0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6C7-4465-82D1-FAAC0C0528D8}"/>
              </c:ext>
            </c:extLst>
          </c:dPt>
          <c:dPt>
            <c:idx val="6"/>
            <c:invertIfNegative val="0"/>
            <c:bubble3D val="0"/>
            <c:spPr>
              <a:solidFill>
                <a:srgbClr val="FBB4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6C7-4465-82D1-FAAC0C0528D8}"/>
              </c:ext>
            </c:extLst>
          </c:dPt>
          <c:dPt>
            <c:idx val="7"/>
            <c:invertIfNegative val="0"/>
            <c:bubble3D val="0"/>
            <c:spPr>
              <a:solidFill>
                <a:srgbClr val="FCCB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6C7-4465-82D1-FAAC0C0528D8}"/>
              </c:ext>
            </c:extLst>
          </c:dPt>
          <c:dPt>
            <c:idx val="8"/>
            <c:invertIfNegative val="0"/>
            <c:bubble3D val="0"/>
            <c:spPr>
              <a:solidFill>
                <a:srgbClr val="FDE0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6C7-4465-82D1-FAAC0C0528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Banking &amp; Finance</c:v>
                </c:pt>
                <c:pt idx="1">
                  <c:v>IT</c:v>
                </c:pt>
                <c:pt idx="2">
                  <c:v>Architecture</c:v>
                </c:pt>
                <c:pt idx="3">
                  <c:v>Engineering</c:v>
                </c:pt>
                <c:pt idx="4">
                  <c:v>Building &amp; Construction</c:v>
                </c:pt>
                <c:pt idx="5">
                  <c:v>Accounting</c:v>
                </c:pt>
                <c:pt idx="6">
                  <c:v>F&amp;B</c:v>
                </c:pt>
                <c:pt idx="7">
                  <c:v>Customer Service</c:v>
                </c:pt>
                <c:pt idx="8">
                  <c:v>Admin / Secretarial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7695</c:v>
                </c:pt>
                <c:pt idx="1">
                  <c:v>7308</c:v>
                </c:pt>
                <c:pt idx="2">
                  <c:v>5712</c:v>
                </c:pt>
                <c:pt idx="3">
                  <c:v>4990</c:v>
                </c:pt>
                <c:pt idx="4">
                  <c:v>4704</c:v>
                </c:pt>
                <c:pt idx="5">
                  <c:v>4588</c:v>
                </c:pt>
                <c:pt idx="6">
                  <c:v>3761</c:v>
                </c:pt>
                <c:pt idx="7">
                  <c:v>3461</c:v>
                </c:pt>
                <c:pt idx="8">
                  <c:v>3292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6C7-4465-82D1-FAAC0C0528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E2E8F0"/>
                </a:solidFill>
                <a:latin typeface="Arial"/>
              </a:rPr>
              <a:t>Avg Monthly Salary by Seniority Level (S$)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A3D6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B1-47DC-B25B-A6AC6118AED9}"/>
              </c:ext>
            </c:extLst>
          </c:dPt>
          <c:dPt>
            <c:idx val="1"/>
            <c:invertIfNegative val="0"/>
            <c:bubble3D val="0"/>
            <c:spPr>
              <a:solidFill>
                <a:srgbClr val="0B4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B1-47DC-B25B-A6AC6118AED9}"/>
              </c:ext>
            </c:extLst>
          </c:dPt>
          <c:dPt>
            <c:idx val="2"/>
            <c:invertIfNegative val="0"/>
            <c:bubble3D val="0"/>
            <c:spPr>
              <a:solidFill>
                <a:srgbClr val="0D5F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B1-47DC-B25B-A6AC6118AED9}"/>
              </c:ext>
            </c:extLst>
          </c:dPt>
          <c:dPt>
            <c:idx val="3"/>
            <c:invertIfNegative val="0"/>
            <c:bubble3D val="0"/>
            <c:spPr>
              <a:solidFill>
                <a:srgbClr val="0F70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B1-47DC-B25B-A6AC6118AED9}"/>
              </c:ext>
            </c:extLst>
          </c:dPt>
          <c:dPt>
            <c:idx val="4"/>
            <c:invertIfNegative val="0"/>
            <c:bubble3D val="0"/>
            <c:spPr>
              <a:solidFill>
                <a:srgbClr val="12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6B1-47DC-B25B-A6AC6118AED9}"/>
              </c:ext>
            </c:extLst>
          </c:dPt>
          <c:dPt>
            <c:idx val="5"/>
            <c:invertIfNegative val="0"/>
            <c:bubble3D val="0"/>
            <c:spPr>
              <a:solidFill>
                <a:srgbClr val="18A1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6B1-47DC-B25B-A6AC6118AED9}"/>
              </c:ext>
            </c:extLst>
          </c:dPt>
          <c:dPt>
            <c:idx val="6"/>
            <c:invertIfNegative val="0"/>
            <c:bubble3D val="0"/>
            <c:spPr>
              <a:solidFill>
                <a:srgbClr val="2AB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6B1-47DC-B25B-A6AC6118AED9}"/>
              </c:ext>
            </c:extLst>
          </c:dPt>
          <c:dPt>
            <c:idx val="7"/>
            <c:invertIfNegative val="0"/>
            <c:bubble3D val="0"/>
            <c:spPr>
              <a:solidFill>
                <a:srgbClr val="3DCE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6B1-47DC-B25B-A6AC6118AED9}"/>
              </c:ext>
            </c:extLst>
          </c:dPt>
          <c:dPt>
            <c:idx val="8"/>
            <c:invertIfNegative val="0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6B1-47DC-B25B-A6AC6118AE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Fresh / Entry</c:v>
                </c:pt>
                <c:pt idx="1">
                  <c:v>Non-executive</c:v>
                </c:pt>
                <c:pt idx="2">
                  <c:v>Junior Executive</c:v>
                </c:pt>
                <c:pt idx="3">
                  <c:v>Executive</c:v>
                </c:pt>
                <c:pt idx="4">
                  <c:v>Senior Executive</c:v>
                </c:pt>
                <c:pt idx="5">
                  <c:v>Professional</c:v>
                </c:pt>
                <c:pt idx="6">
                  <c:v>Manager</c:v>
                </c:pt>
                <c:pt idx="7">
                  <c:v>Middle Management</c:v>
                </c:pt>
                <c:pt idx="8">
                  <c:v>Senior Management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2734</c:v>
                </c:pt>
                <c:pt idx="1">
                  <c:v>3119</c:v>
                </c:pt>
                <c:pt idx="2">
                  <c:v>3407</c:v>
                </c:pt>
                <c:pt idx="3">
                  <c:v>4229</c:v>
                </c:pt>
                <c:pt idx="4">
                  <c:v>5701</c:v>
                </c:pt>
                <c:pt idx="5">
                  <c:v>7200</c:v>
                </c:pt>
                <c:pt idx="6">
                  <c:v>6820</c:v>
                </c:pt>
                <c:pt idx="7">
                  <c:v>8293</c:v>
                </c:pt>
                <c:pt idx="8">
                  <c:v>11561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6B1-47DC-B25B-A6AC6118A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Quarterly Job Posting Volume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Postings</c:v>
                </c:pt>
              </c:strCache>
            </c:strRef>
          </c:tx>
          <c:spPr>
            <a:ln w="38100" cap="flat">
              <a:solidFill>
                <a:srgbClr val="1B3A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6B"/>
              </a:solidFill>
              <a:ln w="9525" cap="flat">
                <a:solidFill>
                  <a:srgbClr val="1B3A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Q1 2023</c:v>
                </c:pt>
                <c:pt idx="1">
                  <c:v>Q2 2023</c:v>
                </c:pt>
                <c:pt idx="2">
                  <c:v>Q3 2023</c:v>
                </c:pt>
                <c:pt idx="3">
                  <c:v>Q4 2023</c:v>
                </c:pt>
                <c:pt idx="4">
                  <c:v>Q1 2024</c:v>
                </c:pt>
                <c:pt idx="5">
                  <c:v>Q2 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28033</c:v>
                </c:pt>
                <c:pt idx="1">
                  <c:v>173717</c:v>
                </c:pt>
                <c:pt idx="2">
                  <c:v>243125</c:v>
                </c:pt>
                <c:pt idx="3">
                  <c:v>213572</c:v>
                </c:pt>
                <c:pt idx="4">
                  <c:v>229431</c:v>
                </c:pt>
                <c:pt idx="5">
                  <c:v>154773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43B-490C-9826-756041FEC8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Employment Type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Permanent</c:v>
                </c:pt>
                <c:pt idx="1">
                  <c:v>Full Time</c:v>
                </c:pt>
                <c:pt idx="2">
                  <c:v>Contract</c:v>
                </c:pt>
                <c:pt idx="3">
                  <c:v>Part Time</c:v>
                </c:pt>
                <c:pt idx="4">
                  <c:v>Temporary</c:v>
                </c:pt>
                <c:pt idx="5">
                  <c:v>Internship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458139</c:v>
                </c:pt>
                <c:pt idx="1">
                  <c:v>393352</c:v>
                </c:pt>
                <c:pt idx="2">
                  <c:v>139182</c:v>
                </c:pt>
                <c:pt idx="3">
                  <c:v>25431</c:v>
                </c:pt>
                <c:pt idx="4">
                  <c:v>18241</c:v>
                </c:pt>
                <c:pt idx="5">
                  <c:v>6959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E0-43C0-8F01-1B67D50A10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547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g-jobs-analytics.streamlit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NANYANG TECHNOLOGICAL UNIVERSITY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310896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457200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530352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603504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008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Jobs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40080" y="1920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Talent Acquisition Analytics  ·  Module 1 Assignment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1965960" cy="82296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74720"/>
            <a:ext cx="196596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1,048,585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91363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Postings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88920" y="3474720"/>
            <a:ext cx="1965960" cy="82296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88920" y="3474720"/>
            <a:ext cx="196596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53,151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80360" y="391363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474720"/>
            <a:ext cx="1965960" cy="82296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474720"/>
            <a:ext cx="196596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S$4,788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0" y="391363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Salary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86600" y="3474720"/>
            <a:ext cx="1965960" cy="82296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6600" y="3474720"/>
            <a:ext cx="196596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78040" y="391363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35440" y="3474720"/>
            <a:ext cx="1965960" cy="82296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35440" y="3474720"/>
            <a:ext cx="196596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22–May 24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326880" y="391363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Period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Analytics Dashboard  ·  May 2024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DuckDB · Python · Streamlit · Plotly · SQL · Pandas  ·  Data: MyCareersFuture.sg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BUSINESS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3657600"/>
          </a:xfrm>
          <a:prstGeom prst="rect">
            <a:avLst/>
          </a:prstGeom>
          <a:solidFill>
            <a:srgbClr val="1C2637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35204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teams at Singapore enterprises struggle to benchmark salaries, identify high-demand skills, and allocate recruiting resources efficiently across 20+ industries.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520440" cy="3657600"/>
          </a:xfrm>
          <a:prstGeom prst="rect">
            <a:avLst/>
          </a:prstGeom>
          <a:solidFill>
            <a:srgbClr val="1C2637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417320"/>
            <a:ext cx="35204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2697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analytics dashboard that transforms 1M+ raw job postings into actionable insights — helping HR leaders make data-driven hiring, compensation, and sourcing decisions.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20440" cy="3657600"/>
          </a:xfrm>
          <a:prstGeom prst="rect">
            <a:avLst/>
          </a:prstGeom>
          <a:solidFill>
            <a:srgbClr val="1C263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204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2104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Value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697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Directors, Talent Acquisition Managers, and Career Coaches. Reduces manual benchmarking from days to seconds. Identifies supply/demand gaps, salary competitiveness, and industry momentum.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0972800" cy="7772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7667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Data beats intuition. This dashboard replaces spreadsheet guesswork with real-time market intelligence across 1,048,585 Singapore job postings. 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DATA HANDLING &amp; METHODOLOGY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Process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423160" y="214884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011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193852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1938528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3990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87452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ingests 1M+ rows from CSV via read_csv_auto(). In-process columnar engine — no server needed.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214884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011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70632" y="1371600"/>
            <a:ext cx="193852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70632" y="1371600"/>
            <a:ext cx="1938528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13990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27832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07792" y="187452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3,988 NULL records. Validate salary range (&gt;0). Standardise date formats. Parse JSON categories.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58584" y="214884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0024" y="2011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38344" y="1371600"/>
            <a:ext cx="193852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38344" y="1371600"/>
            <a:ext cx="1938528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13990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95544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75504" y="187452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first_category via regexp_extract(). Compute average_salary = (min+max)/2. Add salary bands and seniority ordering.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26296" y="214884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17736" y="2011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06056" y="1371600"/>
            <a:ext cx="193852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06056" y="1371600"/>
            <a:ext cx="1938528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9208" y="13990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63256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43216" y="187452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 (RANK, PARTITION), subqueries, MEDIAN(), DATE_TRUNC() for temporal aggregation.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73768" y="1371600"/>
            <a:ext cx="1938528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73768" y="1371600"/>
            <a:ext cx="1938528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6920" y="13990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30968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10928" y="187452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Plotly: 5 dashboard tabs, 15+ chart types, dark theme, real-time filter propagation.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5074920"/>
            <a:ext cx="1133856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EDA FINDINGS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" y="546811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64% of roles: S$3K–6K monthly band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5 hirers are all recruitment agencies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IT &amp; Engineering: highest avg salary at S$7K+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Posting volume grew 8× from Q1→Q3 2023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3,988 rows (0.38%) had NULL salary — excluded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DASHBOARD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at a Glance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697480" cy="1234440"/>
          </a:xfrm>
          <a:prstGeom prst="rect">
            <a:avLst/>
          </a:prstGeom>
          <a:solidFill>
            <a:srgbClr val="1C2637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234440"/>
            <a:ext cx="269748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399032"/>
            <a:ext cx="2368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POSTINGS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" y="16184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1,048,585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" y="2112264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2022 – May 2024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2697480" cy="1234440"/>
          </a:xfrm>
          <a:prstGeom prst="rect">
            <a:avLst/>
          </a:prstGeom>
          <a:solidFill>
            <a:srgbClr val="1C2637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234440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399032"/>
            <a:ext cx="2368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COMPANIES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47872" y="16184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53,151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47872" y="2112264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hirers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1234440"/>
            <a:ext cx="2697480" cy="1234440"/>
          </a:xfrm>
          <a:prstGeom prst="rect">
            <a:avLst/>
          </a:prstGeom>
          <a:solidFill>
            <a:srgbClr val="1C263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234440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399032"/>
            <a:ext cx="2368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MONTHLY SALARY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28232" y="16184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S$4,788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28232" y="2112264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S$3,800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0" y="1234440"/>
            <a:ext cx="2697480" cy="1234440"/>
          </a:xfrm>
          <a:prstGeom prst="rect">
            <a:avLst/>
          </a:prstGeom>
          <a:solidFill>
            <a:srgbClr val="1C263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123444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1399032"/>
            <a:ext cx="2368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INDUSTRIES COVERED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08592" y="16184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08592" y="2112264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sectors</a:t>
            </a:r>
            <a:endParaRPr lang="en-US" sz="9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502920" y="2606040"/>
          <a:ext cx="6858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1"/>
          <p:cNvGraphicFramePr/>
          <p:nvPr/>
        </p:nvGraphicFramePr>
        <p:xfrm>
          <a:off x="7498080" y="2606040"/>
          <a:ext cx="42976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INDUSTRY INTELLIGENCE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vs Demand by Sector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37160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1371600"/>
            <a:ext cx="42976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0" y="1371600"/>
            <a:ext cx="7315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Sectors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181051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 (S$7,695) and IT (S$7,308) command 60%+ premium over median — key targets for salary-competitive recruitment.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2834640"/>
            <a:ext cx="42976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2834640"/>
            <a:ext cx="73152" cy="1325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 Pay Paradox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18120" y="327355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Admin/Secretarial has the highest posting volume (102K+) but lowest avg salary (S$3,292). High turnover signal.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89520" y="4297680"/>
            <a:ext cx="429768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429768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18120" y="473659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offers strong salary (S$4,990) AND high volume (99K postings) — best ROI for talent investment.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SALARY INTELLIGENCE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Benchmarking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325880"/>
          <a:ext cx="685800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1325880"/>
            <a:ext cx="4251960" cy="1188720"/>
          </a:xfrm>
          <a:prstGeom prst="rect">
            <a:avLst/>
          </a:prstGeom>
          <a:solidFill>
            <a:srgbClr val="1C2637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0" y="1325880"/>
            <a:ext cx="425196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54112" y="1490472"/>
            <a:ext cx="3922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Management average — 4.2× entry level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54112" y="1709928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S$11,561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589520" y="2624328"/>
            <a:ext cx="4251960" cy="1188720"/>
          </a:xfrm>
          <a:prstGeom prst="rect">
            <a:avLst/>
          </a:prstGeom>
          <a:solidFill>
            <a:srgbClr val="1C2637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2624328"/>
            <a:ext cx="4251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54112" y="2788920"/>
            <a:ext cx="3922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Professional grade — highest non-mgmt salary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54112" y="3008376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S$7,200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589520" y="3922776"/>
            <a:ext cx="4251960" cy="1188720"/>
          </a:xfrm>
          <a:prstGeom prst="rect">
            <a:avLst/>
          </a:prstGeom>
          <a:solidFill>
            <a:srgbClr val="1C263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3922776"/>
            <a:ext cx="42519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4087368"/>
            <a:ext cx="3922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(&gt;S$10K) postings — growing C-suite demand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54112" y="4306824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54,096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589520" y="5221224"/>
            <a:ext cx="4251960" cy="1188720"/>
          </a:xfrm>
          <a:prstGeom prst="rect">
            <a:avLst/>
          </a:prstGeom>
          <a:solidFill>
            <a:srgbClr val="1C263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89520" y="5221224"/>
            <a:ext cx="42519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54112" y="5385816"/>
            <a:ext cx="3922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median — benchmark for most roles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54112" y="5605272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S$3,800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MARKET TRENDS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Momentum 2023–2024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32588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502920" y="5120640"/>
          <a:ext cx="68580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635240" y="1325880"/>
            <a:ext cx="42519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818120" y="1508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Explosive Growth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818120" y="1874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grew 8× from Q1 to Q3 2023. Singapore's post-COVID labour market fully rebounded by mid-2023.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635240" y="3154680"/>
            <a:ext cx="42519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818120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Stabilisation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18120" y="37033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2023 and Q1 2024 show a steady ~225K/quarter plateau — a mature, active hiring market.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635240" y="4983480"/>
            <a:ext cx="42519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818120" y="5166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Permanent Dominance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818120" y="55321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all postings are Permanent roles, reflecting demand for committed talent rather than contract workers.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DASHBOARD WALKTHROUGH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Interactive Analytics Platform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2121408" cy="5074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2121408" cy="4572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53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1920240"/>
            <a:ext cx="19019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KPI metrics strip (postings, companies, avg salary)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Industry composition bar chart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Salary band donut chart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Seniority vs salary bar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Key insights panel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88920" y="1325880"/>
            <a:ext cx="2121408" cy="507492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325880"/>
            <a:ext cx="21214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353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371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1920240"/>
            <a:ext cx="19019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Per-industry deep dive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Top roles + salary dist histogram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Company bubble scatter chart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Cross-filter from sidebar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74920" y="1325880"/>
            <a:ext cx="2121408" cy="50749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74920" y="1325880"/>
            <a:ext cx="212140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353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1371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84648" y="1920240"/>
            <a:ext cx="19019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Industry × Seniority salary heatmap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Box plots for top 10 industries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Avg vs Median comparison bars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Top 20 highest-paying roles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60920" y="1325880"/>
            <a:ext cx="2121408" cy="5074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0920" y="1325880"/>
            <a:ext cx="21214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353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0" y="1371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70648" y="1920240"/>
            <a:ext cx="19019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Monthly posting + salary dual-axis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Quarterly by-industry line chart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Repost rate analysis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Application volume tiers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46920" y="1325880"/>
            <a:ext cx="2121408" cy="5074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46920" y="1325880"/>
            <a:ext cx="2121408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0" y="1353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49840" y="1371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56648" y="1920240"/>
            <a:ext cx="19019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Free-text job title search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Sortable results table (200 rows)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Salary histogram for results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 sidebar filters applied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6446520"/>
            <a:ext cx="1129284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Deployed: https://share.streamlit.io  |  All charts powered by Plotly  |  Data cached via @st.cache_resource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36576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CHALLENGES &amp; LEARNINGS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Insights &amp; Next Steps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" y="18013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Regex Category Parsing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21031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 stored as JSON arrays in a VARCHAR column. Used regexp_extract() to parse — but only extracts first category, losing multi-category insights.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30358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Salary Data Quality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333756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3,988 rows (0.38%) had NULL salaries. Average computed as (min+max)/2 may inflate for ranges like 'S$2K–S$20K negotiable'.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" y="42702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Deployment Constraints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457200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 requires DB file via Git LFS or a hosted solution. Large 1GB+ DuckDB file needs optimised read-only access strategy.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39496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" y="55046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Category Normalisation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580644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industry labelled differently (e.g., 'F&amp;B' vs 'Food and Beverage'). Partial normalisation applied.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82512" y="18013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DuckDB is Production-Ready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21031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OLAP on 1M+ rows with sub-second query latency. QUALIFY clause and window functions significantly simplified aggregation code.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2512" y="30358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Streamlit Caching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82512" y="333756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 for DB connection and @st.cache_data for heavy queries reduced dashboard load time from 8s to &lt;1s after first render.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16052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82512" y="42702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Filter Architecture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457200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WHERE clause construction in a build_where() function ensured consistent cross-tab filtering with minimal code duplication.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39496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82512" y="55046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Next Steps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82512" y="580644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skill extraction from job titles; ML salary predictor; MRT station proximity heatmap; real-time API integration with MCF.sg.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374904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457200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539496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6217920"/>
            <a:ext cx="11430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008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1,048,585 job postings analysed across 20 industries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End-to-end pipeline: DuckDB → Python → Streamlit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5-tab interactive dashboard with real-time filtering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Actionable insights for talent acquisition strategy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234440" cy="50292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29968" y="4846320"/>
            <a:ext cx="1234440" cy="50292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19856" y="4846320"/>
            <a:ext cx="1234440" cy="50292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9744" y="4846320"/>
            <a:ext cx="1234440" cy="50292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9632" y="4846320"/>
            <a:ext cx="1234440" cy="502920"/>
          </a:xfrm>
          <a:prstGeom prst="rect">
            <a:avLst/>
          </a:prstGeom>
          <a:solidFill>
            <a:srgbClr val="1C26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0" y="2560320"/>
            <a:ext cx="2743200" cy="2743200"/>
          </a:xfrm>
          <a:prstGeom prst="rect">
            <a:avLst/>
          </a:prstGeom>
          <a:solidFill>
            <a:srgbClr val="1C2637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26" name="Text 24">
            <a:hlinkClick r:id="rId3"/>
          </p:cNvPr>
          <p:cNvSpPr/>
          <p:nvPr/>
        </p:nvSpPr>
        <p:spPr>
          <a:xfrm>
            <a:off x="88696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LIVE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5711" y="2041574"/>
            <a:ext cx="41781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https://sg-jobs-analytics.streamlit.app/</a:t>
            </a:r>
            <a:endParaRPr lang="en-US" sz="1200" b="1" dirty="0">
              <a:solidFill>
                <a:srgbClr val="00B0F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985549" y="5345723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visit link to</a:t>
            </a:r>
            <a:endParaRPr lang="en-US" sz="1000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dashboard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EADA9B6-A327-8B6F-DA42-AB2AE04C5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549" y="2584938"/>
            <a:ext cx="2718582" cy="27185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1167</Words>
  <Application>Microsoft Office PowerPoint</Application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Xiaobin Jin</cp:lastModifiedBy>
  <cp:revision>7</cp:revision>
  <dcterms:created xsi:type="dcterms:W3CDTF">2026-05-12T10:01:12Z</dcterms:created>
  <dcterms:modified xsi:type="dcterms:W3CDTF">2026-05-12T14:13:10Z</dcterms:modified>
</cp:coreProperties>
</file>